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59" r:id="rId7"/>
    <p:sldId id="260" r:id="rId8"/>
    <p:sldId id="261" r:id="rId9"/>
    <p:sldId id="263" r:id="rId10"/>
    <p:sldId id="262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360B5-33B7-2D9F-0B3A-2DE7FEE838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accent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PRIME VIDEO DASHBOARD</a:t>
            </a:r>
            <a:endParaRPr lang="en-IN" sz="4800" dirty="0">
              <a:solidFill>
                <a:schemeClr val="accent2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BB368-BB20-4832-8FD0-D8FDDB162D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Unlocking Key Trends from 9,600+ Titles &amp; 100 Years of Entertainment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566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015016-A819-9C78-8AE7-0CA4B0087244}"/>
              </a:ext>
            </a:extLst>
          </p:cNvPr>
          <p:cNvSpPr txBox="1"/>
          <p:nvPr/>
        </p:nvSpPr>
        <p:spPr>
          <a:xfrm>
            <a:off x="474133" y="2311400"/>
            <a:ext cx="90085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Title: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Analysis of Amazon Prime Video Content Strategy</a:t>
            </a:r>
          </a:p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Subtitle: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A Data-Driven Overview of 9,600+ Titles Spanning a Century of Entertainment</a:t>
            </a:r>
          </a:p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Key Points: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Overview: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This presentation provides a comprehensive analysis of the Amazon Prime Video library, examining the platform's content acquisition and catalog structure.</a:t>
            </a:r>
          </a:p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Dataset Scope: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The analysis is based on a dataset of 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9,655 titles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, featuring works from 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5,771 directors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across 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519 distinct genres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Timeline: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The data covers a 101-year span of entertainment history, ranging from 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1920 to 2021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, offering insights into both classic archival choices and modern streaming trends.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10BBF0-7BEC-6CD5-0CE9-53983F4C9230}"/>
              </a:ext>
            </a:extLst>
          </p:cNvPr>
          <p:cNvSpPr txBox="1"/>
          <p:nvPr/>
        </p:nvSpPr>
        <p:spPr>
          <a:xfrm>
            <a:off x="1028700" y="635000"/>
            <a:ext cx="7899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INTRODUCTION</a:t>
            </a:r>
            <a:endParaRPr lang="en-IN" sz="4000" dirty="0">
              <a:solidFill>
                <a:schemeClr val="accent2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308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84878E-07B1-C5D0-6F3B-988537086B7F}"/>
              </a:ext>
            </a:extLst>
          </p:cNvPr>
          <p:cNvSpPr txBox="1"/>
          <p:nvPr/>
        </p:nvSpPr>
        <p:spPr>
          <a:xfrm>
            <a:off x="304800" y="2472267"/>
            <a:ext cx="913553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Uncovering Key Trends in Streaming Strategy</a:t>
            </a:r>
          </a:p>
          <a:p>
            <a:pPr algn="ctr"/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Key Points: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Content Composition: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To determine the platform's strategic balance between 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Movies and TV Shows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and identify the dominant format.</a:t>
            </a:r>
          </a:p>
          <a:p>
            <a:pPr algn="ctr"/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Audience Targeting: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To analyze age ratings (e.g., 13+, 16+, R) and understand which demographic groups constitute the primary target audience.</a:t>
            </a:r>
          </a:p>
          <a:p>
            <a:pPr algn="ctr"/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Geographic Footprint: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To map the global distribution of content and identify key regions of strategic investment (e.g., North America, Europe, India).</a:t>
            </a:r>
          </a:p>
          <a:p>
            <a:pPr algn="ctr"/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Growth Trajectory: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To visualize the timeline of content additions and pinpoint the era of exponential library expansion.</a:t>
            </a:r>
          </a:p>
          <a:p>
            <a:pPr algn="ctr"/>
            <a:endParaRPr lang="en-IN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D1E71D-8EF3-AFE3-57FD-C8132374A4F3}"/>
              </a:ext>
            </a:extLst>
          </p:cNvPr>
          <p:cNvSpPr txBox="1"/>
          <p:nvPr/>
        </p:nvSpPr>
        <p:spPr>
          <a:xfrm>
            <a:off x="1651000" y="643467"/>
            <a:ext cx="69680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OBJECTIVE</a:t>
            </a:r>
            <a:endParaRPr lang="en-IN" sz="4000" dirty="0">
              <a:solidFill>
                <a:schemeClr val="accent2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914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70EA71-B696-36F4-EB6A-E59AAE6559F6}"/>
              </a:ext>
            </a:extLst>
          </p:cNvPr>
          <p:cNvSpPr txBox="1"/>
          <p:nvPr/>
        </p:nvSpPr>
        <p:spPr>
          <a:xfrm>
            <a:off x="203199" y="2318083"/>
            <a:ext cx="955886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Amazon Prime Video Dashboard Overview</a:t>
            </a:r>
          </a:p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Data Scope: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Analysis of 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9,655 titles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spanning 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101 years (1920–2021)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, managed by over 5,700 directors.</a:t>
            </a:r>
          </a:p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Content Strategy: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A clear "Film-First" approach, with 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Movies (81%)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vastly outnumbering 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TV Shows (19%)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Growth Trends: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The library shows exponential expansion starting in 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2010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, prioritizing modern content over archival classics.</a:t>
            </a:r>
          </a:p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Key Segments: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The platform focuses on 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Drama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and 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Comedy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, primarily targeting 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Teen (13+) and Young Adult (16+)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audiences globally.</a:t>
            </a:r>
          </a:p>
          <a:p>
            <a:endParaRPr lang="en-IN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C6C386-1FC9-11EB-F800-3A315F700E4A}"/>
              </a:ext>
            </a:extLst>
          </p:cNvPr>
          <p:cNvSpPr txBox="1"/>
          <p:nvPr/>
        </p:nvSpPr>
        <p:spPr>
          <a:xfrm>
            <a:off x="1714499" y="728133"/>
            <a:ext cx="65362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DASHBOARD OVERVIEW</a:t>
            </a:r>
            <a:endParaRPr lang="en-IN" sz="4000" dirty="0">
              <a:solidFill>
                <a:schemeClr val="accent2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987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EB6BD8-2D3A-C721-F8FF-C5F78E8AD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47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703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21EA22-64E4-0C74-4961-6480E42A6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1015"/>
            <a:ext cx="9829800" cy="11202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7CC3C0-6BFF-1349-2611-FC5C99752461}"/>
              </a:ext>
            </a:extLst>
          </p:cNvPr>
          <p:cNvSpPr txBox="1"/>
          <p:nvPr/>
        </p:nvSpPr>
        <p:spPr>
          <a:xfrm>
            <a:off x="508000" y="3285067"/>
            <a:ext cx="88307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Massive Scale:</a:t>
            </a:r>
            <a:r>
              <a:rPr lang="en-US" alt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The platform hosts a vast library of </a:t>
            </a:r>
            <a:r>
              <a:rPr lang="en-US" alt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9,655 titles</a:t>
            </a:r>
            <a:r>
              <a:rPr lang="en-US" alt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, ensuring a deep catalog for users.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Rich Diversity:</a:t>
            </a:r>
            <a:r>
              <a:rPr lang="en-US" alt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With </a:t>
            </a:r>
            <a:r>
              <a:rPr lang="en-US" alt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519 distinct genres</a:t>
            </a:r>
            <a:r>
              <a:rPr lang="en-US" alt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and </a:t>
            </a:r>
            <a:r>
              <a:rPr lang="en-US" alt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5,771 directors</a:t>
            </a:r>
            <a:r>
              <a:rPr lang="en-US" alt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, the content spans a wide variety of styles and storytelling voices.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Century of Entertainment:</a:t>
            </a:r>
            <a:r>
              <a:rPr lang="en-US" alt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The library covers a 101-year span (</a:t>
            </a:r>
            <a:r>
              <a:rPr lang="en-US" alt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1920–2021</a:t>
            </a:r>
            <a:r>
              <a:rPr lang="en-US" alt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), offering everything from classic cinema to modern releases.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Broad Audience Reach:</a:t>
            </a:r>
            <a:r>
              <a:rPr lang="en-US" alt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Content is categorized across </a:t>
            </a:r>
            <a:r>
              <a:rPr lang="en-US" alt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25 different ratings</a:t>
            </a:r>
            <a:r>
              <a:rPr lang="en-US" alt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, catering to all demographics from toddlers to adults.</a:t>
            </a:r>
          </a:p>
        </p:txBody>
      </p:sp>
    </p:spTree>
    <p:extLst>
      <p:ext uri="{BB962C8B-B14F-4D97-AF65-F5344CB8AC3E}">
        <p14:creationId xmlns:p14="http://schemas.microsoft.com/office/powerpoint/2010/main" val="657112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0DE8BF-24E8-35DA-25CB-E76BC3C3D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361" y="375713"/>
            <a:ext cx="4061812" cy="23928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085751-A99F-AC3F-7DC1-6EC64AF76463}"/>
              </a:ext>
            </a:extLst>
          </p:cNvPr>
          <p:cNvSpPr txBox="1"/>
          <p:nvPr/>
        </p:nvSpPr>
        <p:spPr>
          <a:xfrm>
            <a:off x="474133" y="3217333"/>
            <a:ext cx="922866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Expansive Library:</a:t>
            </a:r>
            <a:r>
              <a:rPr lang="en-US" alt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9,655 titles spanning 100 years and 519 genres.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Movie Dominance:</a:t>
            </a:r>
            <a:r>
              <a:rPr lang="en-US" alt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A clear "Film-First" strategy with </a:t>
            </a:r>
            <a:r>
              <a:rPr lang="en-US" alt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81% Movies</a:t>
            </a:r>
            <a:r>
              <a:rPr lang="en-US" alt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vs. </a:t>
            </a:r>
            <a:r>
              <a:rPr lang="en-US" alt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19% TV Shows</a:t>
            </a:r>
            <a:r>
              <a:rPr lang="en-US" alt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Modern Surge:</a:t>
            </a:r>
            <a:r>
              <a:rPr lang="en-US" alt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Exponential growth in content acquisition starting </a:t>
            </a:r>
            <a:r>
              <a:rPr lang="en-US" alt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post-2010</a:t>
            </a:r>
            <a:r>
              <a:rPr lang="en-US" alt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Target Audience:</a:t>
            </a:r>
            <a:r>
              <a:rPr lang="en-US" alt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Primary focus on </a:t>
            </a:r>
            <a:r>
              <a:rPr lang="en-US" alt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13+ and 16+</a:t>
            </a:r>
            <a:r>
              <a:rPr lang="en-US" alt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demographics (Teen/Adult).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Top Content:</a:t>
            </a:r>
            <a:r>
              <a:rPr lang="en-US" alt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Drama</a:t>
            </a:r>
            <a:r>
              <a:rPr lang="en-US" alt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is the #1 genre; </a:t>
            </a:r>
            <a:r>
              <a:rPr lang="en-US" alt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North America, Europe, and India</a:t>
            </a:r>
            <a:r>
              <a:rPr lang="en-US" alt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are the key geographic hubs.</a:t>
            </a:r>
          </a:p>
        </p:txBody>
      </p:sp>
    </p:spTree>
    <p:extLst>
      <p:ext uri="{BB962C8B-B14F-4D97-AF65-F5344CB8AC3E}">
        <p14:creationId xmlns:p14="http://schemas.microsoft.com/office/powerpoint/2010/main" val="2061255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B1B747-36AB-670A-7668-7FBD807F9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876" y="487577"/>
            <a:ext cx="4320914" cy="23776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228C74-CBB4-1EE8-D8D4-6206FF64AFF7}"/>
              </a:ext>
            </a:extLst>
          </p:cNvPr>
          <p:cNvSpPr txBox="1"/>
          <p:nvPr/>
        </p:nvSpPr>
        <p:spPr>
          <a:xfrm>
            <a:off x="694267" y="3429000"/>
            <a:ext cx="889846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Exponential Growth Era: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Content production remained relatively flat for most of the 20th century but saw </a:t>
            </a:r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massive exponential growth starting around 2000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, peaking sharply in recent years (2019–2021).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Film-First Strategy: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The volume of </a:t>
            </a:r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Movies (Blue)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consistently dwarfs </a:t>
            </a:r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TV Shows (Black)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throughout the entire timeline, confirming a heavy reliance on feature films to build the library.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Recent Content Spike: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The steepest vertical climb occurs in the last decade, indicating that the vast majority of the platform's library consists of modern, recently released content rather than older classics.</a:t>
            </a:r>
          </a:p>
        </p:txBody>
      </p:sp>
    </p:spTree>
    <p:extLst>
      <p:ext uri="{BB962C8B-B14F-4D97-AF65-F5344CB8AC3E}">
        <p14:creationId xmlns:p14="http://schemas.microsoft.com/office/powerpoint/2010/main" val="2970399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DBEE76C-5021-6F67-6E43-05B218DE4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54" y="2243987"/>
            <a:ext cx="3231160" cy="23700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571737F-F109-707B-28B1-7DC212320721}"/>
              </a:ext>
            </a:extLst>
          </p:cNvPr>
          <p:cNvSpPr txBox="1"/>
          <p:nvPr/>
        </p:nvSpPr>
        <p:spPr>
          <a:xfrm>
            <a:off x="4438650" y="1690061"/>
            <a:ext cx="610023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Movie-Centric Library: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The platform is heavily skewed towards feature films,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Movies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accounting for a dominant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80.82%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of the total content (7,810 titles).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Selective TV Offering: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TV Shows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make up a smaller, curated portion of the library at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19.18%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(1,850 titles).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Strategic Ratio: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4:1 ratio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of movies to TV shows suggests a strategy focused on offering a massive film vault rather than just binge-able episodic series.</a:t>
            </a:r>
          </a:p>
        </p:txBody>
      </p:sp>
    </p:spTree>
    <p:extLst>
      <p:ext uri="{BB962C8B-B14F-4D97-AF65-F5344CB8AC3E}">
        <p14:creationId xmlns:p14="http://schemas.microsoft.com/office/powerpoint/2010/main" val="2642068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CAEFEA-DD39-DDA8-2B8A-4B671AF25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081" y="433813"/>
            <a:ext cx="3825572" cy="24005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BF4A72-CC3E-5E32-4235-F88AA7DEF827}"/>
              </a:ext>
            </a:extLst>
          </p:cNvPr>
          <p:cNvSpPr txBox="1"/>
          <p:nvPr/>
        </p:nvSpPr>
        <p:spPr>
          <a:xfrm>
            <a:off x="601133" y="3158066"/>
            <a:ext cx="87291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Dominance of Drama: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The most popular genre by a significant margin is </a:t>
            </a:r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Drama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, with </a:t>
            </a:r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986 titles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. This suggests that emotionally engaging, narrative-driven content is the platform's core strength.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Strong Comedy Presence: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Comedy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is the second-largest standalone category (536 titles), balancing the heavier tone of the drama library.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Rise of Hybrid Genres: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There is a notable preference for mixed-genre storytelling. Categories like </a:t>
            </a:r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"Drama, Suspense"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(399 titles), </a:t>
            </a:r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"Comedy, Drama"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(377 titles), and </a:t>
            </a:r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"Action, Drama"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(297 titles) show that audiences enjoy complex, multi-layered narratives rather than just single-genre plots.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Family &amp; Educational Focus: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Significant investment is visible in family-friendly content, with </a:t>
            </a:r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"Animation, Kids"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(356 titles), </a:t>
            </a:r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"Kids"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(334 titles), and </a:t>
            </a:r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"Documentary"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(350 titles) all ranking in the top tier.</a:t>
            </a:r>
          </a:p>
        </p:txBody>
      </p:sp>
    </p:spTree>
    <p:extLst>
      <p:ext uri="{BB962C8B-B14F-4D97-AF65-F5344CB8AC3E}">
        <p14:creationId xmlns:p14="http://schemas.microsoft.com/office/powerpoint/2010/main" val="1001947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B260EE-F88D-4500-C8EC-3C80C4C0A694}"/>
              </a:ext>
            </a:extLst>
          </p:cNvPr>
          <p:cNvSpPr txBox="1"/>
          <p:nvPr/>
        </p:nvSpPr>
        <p:spPr>
          <a:xfrm>
            <a:off x="262467" y="1507067"/>
            <a:ext cx="933873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1. Content Strategy: "Cinema-First" Approach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dashboard reveals a deliberate strategy to prioritize feature films, with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Movies (81%)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vastly outnumbering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TV Shows (19%)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 positioning the platform as a massive digital cinema library.</a:t>
            </a: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2. Aggressive Modern Expansion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While the library spans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100 years (1920–2021)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 the "Release Year" chart confirms that the vast majority of content was acquired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post-2010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 showing a clear focus on modern, relevant entertainment over historical archiving.</a:t>
            </a: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3. Target Audience: Mature &amp; Narrative-Driven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data highlights a strong focus on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Teen (13+) and Young Adult (16+)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viewers. With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Drama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as the #1 genre (986 titles), the platform caters to audiences seeking serious, story-rich content rather than just casual viewing.</a:t>
            </a: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4. Global &amp; Diverse Ecosystem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"Country Map" and "Genre" charts prove this is a truly international service. With key hubs in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North America, India, and Europe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 and over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500 genres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 the platform is built to serve a diverse, global subscriber base.</a:t>
            </a:r>
          </a:p>
          <a:p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C6F689-B6DF-E296-DB7F-828B210DB651}"/>
              </a:ext>
            </a:extLst>
          </p:cNvPr>
          <p:cNvSpPr txBox="1"/>
          <p:nvPr/>
        </p:nvSpPr>
        <p:spPr>
          <a:xfrm>
            <a:off x="1820333" y="558800"/>
            <a:ext cx="64431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CONCLUSION</a:t>
            </a:r>
            <a:endParaRPr lang="en-IN" sz="4000" dirty="0">
              <a:solidFill>
                <a:schemeClr val="accent2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629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EB41-7DBD-29D4-4856-0EC63711F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668" y="2768600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THANK YOU</a:t>
            </a:r>
            <a:endParaRPr lang="en-IN" sz="6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55485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</TotalTime>
  <Words>1025</Words>
  <Application>Microsoft Office PowerPoint</Application>
  <PresentationFormat>Widescreen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Segoe UI</vt:lpstr>
      <vt:lpstr>Segoe UI Semibold</vt:lpstr>
      <vt:lpstr>Trebuchet MS</vt:lpstr>
      <vt:lpstr>Wingdings 3</vt:lpstr>
      <vt:lpstr>Facet</vt:lpstr>
      <vt:lpstr>PRIME VIDEO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Saha</dc:creator>
  <cp:lastModifiedBy>Abhishek Saha</cp:lastModifiedBy>
  <cp:revision>1</cp:revision>
  <dcterms:created xsi:type="dcterms:W3CDTF">2026-02-08T17:10:18Z</dcterms:created>
  <dcterms:modified xsi:type="dcterms:W3CDTF">2026-02-08T18:20:35Z</dcterms:modified>
</cp:coreProperties>
</file>