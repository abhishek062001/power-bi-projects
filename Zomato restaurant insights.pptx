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5"/>
  </p:notesMasterIdLst>
  <p:handoutMasterIdLst>
    <p:handoutMasterId r:id="rId16"/>
  </p:handoutMasterIdLst>
  <p:sldIdLst>
    <p:sldId id="259" r:id="rId2"/>
    <p:sldId id="260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90" d="100"/>
          <a:sy n="90" d="100"/>
        </p:scale>
        <p:origin x="355" y="67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2/8/2026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2/8/2026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312" y="1720039"/>
            <a:ext cx="9220200" cy="2147926"/>
          </a:xfrm>
        </p:spPr>
        <p:txBody>
          <a:bodyPr/>
          <a:lstStyle/>
          <a:p>
            <a:r>
              <a:rPr lang="en-US" dirty="0"/>
              <a:t>Zomato restaurant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Subtle: Operational Analysis &amp; Customer Preference Trends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D8F71D-C29D-2ACE-4472-E1A4E6E93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163" y="2564904"/>
            <a:ext cx="104368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 Foundation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10,000+ restaurants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 countries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backed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 million customer votes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This report represents a high-confidence view of the current food service landscape.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Objectives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Correlating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vs.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understand value perception.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Demand: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Identifying dominant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Cuisines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Geographic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strongholds.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Opportunity: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Quantifying the untapped potential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Online Delivery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Bottom 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This analysis moves beyond simple metrics to provide actionable strategies for increasing revenue, optimizing menus, and expanding market reach.</a:t>
            </a:r>
          </a:p>
        </p:txBody>
      </p:sp>
    </p:spTree>
    <p:extLst>
      <p:ext uri="{BB962C8B-B14F-4D97-AF65-F5344CB8AC3E}">
        <p14:creationId xmlns:p14="http://schemas.microsoft.com/office/powerpoint/2010/main" val="39125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F43F-9B45-FA87-4234-BB81FDA3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51D3C7-FB16-12A1-42FE-BA0A3D6A97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163" y="2607440"/>
            <a:ext cx="1043683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Market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assess the overall health of the restaurant ecosystem using key metrics: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Votes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Cost for Two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Customer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determine the correlation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Points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Satisfaction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identifying which segments offer the highest perceived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Map Operational Footprint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visualize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 Distribution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restaurants and pinpoint key markets vs. potential expansion zones.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Growth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quantify the gap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Online Delivery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adoption and highlight specific cuisine categories for strategic investment.</a:t>
            </a:r>
          </a:p>
        </p:txBody>
      </p:sp>
    </p:spTree>
    <p:extLst>
      <p:ext uri="{BB962C8B-B14F-4D97-AF65-F5344CB8AC3E}">
        <p14:creationId xmlns:p14="http://schemas.microsoft.com/office/powerpoint/2010/main" val="32453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9C34-0C10-260E-C317-77623AB9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2FDBA2-9D32-D677-6F0E-42FE2D099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163" y="2299663"/>
            <a:ext cx="1050884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Coverage: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dashboard aggregates data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10,000 restaurants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Engagement Volume: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massive sample size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Million customer votes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ensures high data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Baseline: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overall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Rating of 2.9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indicates a significant opportunity for quality improvement across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Trends: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Cuisine: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North Indian food dominates the market supply (40% of listings).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Delivery: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critical service gap exists,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~74%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restaurants missing online delivery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74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A3D63-15E8-1BAE-81DC-CBA57D517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768"/>
            <a:ext cx="12188824" cy="68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5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DDBE8-E568-5564-8FEC-774F69B57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47" y="2354487"/>
            <a:ext cx="11408129" cy="10745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21404A-4C31-D6C4-D15F-A1DA0E3FA632}"/>
              </a:ext>
            </a:extLst>
          </p:cNvPr>
          <p:cNvSpPr txBox="1"/>
          <p:nvPr/>
        </p:nvSpPr>
        <p:spPr>
          <a:xfrm>
            <a:off x="390347" y="3861048"/>
            <a:ext cx="11449272" cy="26776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Market Size:</a:t>
            </a:r>
            <a:r>
              <a:rPr lang="en-US" altLang="en-US" dirty="0"/>
              <a:t> </a:t>
            </a:r>
            <a:r>
              <a:rPr lang="en-US" altLang="en-US" b="1" dirty="0"/>
              <a:t>10K</a:t>
            </a:r>
            <a:r>
              <a:rPr lang="en-US" altLang="en-US" dirty="0"/>
              <a:t> Total Restaurants tracked.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Customer Engagement:</a:t>
            </a:r>
            <a:r>
              <a:rPr lang="en-US" altLang="en-US" dirty="0"/>
              <a:t> </a:t>
            </a:r>
            <a:r>
              <a:rPr lang="en-US" altLang="en-US" b="1" dirty="0"/>
              <a:t>1 Million</a:t>
            </a:r>
            <a:r>
              <a:rPr lang="en-US" altLang="en-US" dirty="0"/>
              <a:t> Total Votes recorded, indicating high user interaction.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Average Rating:</a:t>
            </a:r>
            <a:r>
              <a:rPr lang="en-US" altLang="en-US" dirty="0"/>
              <a:t> </a:t>
            </a:r>
            <a:r>
              <a:rPr lang="en-US" altLang="en-US" b="1" dirty="0"/>
              <a:t>2.9 out of 5</a:t>
            </a:r>
            <a:r>
              <a:rPr lang="en-US" altLang="en-US" dirty="0"/>
              <a:t> – This highlights a potential area for quality improvement across the platform.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Cost Benchmark:</a:t>
            </a:r>
            <a:r>
              <a:rPr lang="en-US" altLang="en-US" dirty="0"/>
              <a:t> </a:t>
            </a:r>
            <a:r>
              <a:rPr lang="en-US" altLang="en-US" b="1" dirty="0"/>
              <a:t>1.2K</a:t>
            </a:r>
            <a:r>
              <a:rPr lang="en-US" altLang="en-US" dirty="0"/>
              <a:t> Average Cost for Two people, placing the average dining experience in the mid-range affordability bracket.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9A25B-93CA-24DB-4AEB-DC13327D4A67}"/>
              </a:ext>
            </a:extLst>
          </p:cNvPr>
          <p:cNvSpPr txBox="1"/>
          <p:nvPr/>
        </p:nvSpPr>
        <p:spPr>
          <a:xfrm>
            <a:off x="1953951" y="1021713"/>
            <a:ext cx="828092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dirty="0">
                <a:latin typeface="+mj-lt"/>
              </a:rPr>
              <a:t>Key Performance Indicators (KPIs)</a:t>
            </a:r>
          </a:p>
        </p:txBody>
      </p:sp>
    </p:spTree>
    <p:extLst>
      <p:ext uri="{BB962C8B-B14F-4D97-AF65-F5344CB8AC3E}">
        <p14:creationId xmlns:p14="http://schemas.microsoft.com/office/powerpoint/2010/main" val="77200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E4FBCF-5C5F-B010-2281-FD3DD79E9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4" y="1484784"/>
            <a:ext cx="2027096" cy="4968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85AB96-86E3-A2AF-E027-B981FF3A4FEF}"/>
              </a:ext>
            </a:extLst>
          </p:cNvPr>
          <p:cNvSpPr txBox="1"/>
          <p:nvPr/>
        </p:nvSpPr>
        <p:spPr>
          <a:xfrm>
            <a:off x="3286100" y="1922346"/>
            <a:ext cx="8352928" cy="40934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</a:t>
            </a:r>
            <a:r>
              <a:rPr lang="en-US" altLang="en-US" sz="2000" b="1" dirty="0"/>
              <a:t>Country &amp; City</a:t>
            </a:r>
            <a:r>
              <a:rPr lang="en-US" altLang="en-US" sz="2000" dirty="0"/>
              <a:t> filters allow users to drill down from global trends to hyper-local insights (e.g., comparing New Delhi vs. London).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Business Model Isolation:</a:t>
            </a: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</a:t>
            </a:r>
            <a:r>
              <a:rPr lang="en-US" altLang="en-US" sz="2000" b="1" dirty="0"/>
              <a:t>Online Delivery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Table Booking</a:t>
            </a:r>
            <a:r>
              <a:rPr lang="en-US" altLang="en-US" sz="2000" dirty="0"/>
              <a:t> toggles let us separate different restaurant types (e.g., Cloud Kitchens vs. Fine Dining) to compare their specific performance.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Strategic Value:</a:t>
            </a: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These controls transform the dashboard from a static report into a </a:t>
            </a:r>
            <a:r>
              <a:rPr lang="en-US" altLang="en-US" sz="2000" b="1" dirty="0"/>
              <a:t>dynamic tool</a:t>
            </a:r>
            <a:r>
              <a:rPr lang="en-US" altLang="en-US" sz="2000" dirty="0"/>
              <a:t>, enabling stakeholders to answer specific, ad-hoc business questions instantly.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542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B8975-28E6-DDBA-E17D-0FE93F8F0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1988840"/>
            <a:ext cx="5400600" cy="3024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3B7DE-CDF2-58CB-1D75-915C5E9FCD53}"/>
              </a:ext>
            </a:extLst>
          </p:cNvPr>
          <p:cNvSpPr txBox="1"/>
          <p:nvPr/>
        </p:nvSpPr>
        <p:spPr>
          <a:xfrm>
            <a:off x="5878388" y="2069847"/>
            <a:ext cx="6048672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India-Centric Core:</a:t>
            </a:r>
            <a:r>
              <a:rPr lang="en-US" altLang="en-US" sz="1800" dirty="0"/>
              <a:t> The massive concentration in India confirms it as the undisputed </a:t>
            </a:r>
            <a:r>
              <a:rPr lang="en-US" altLang="en-US" sz="1800" b="1" dirty="0"/>
              <a:t>operational engine</a:t>
            </a:r>
            <a:r>
              <a:rPr lang="en-US" altLang="en-US" sz="1800" dirty="0"/>
              <a:t> and primary revenue driver.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Strategic Global Outposts:</a:t>
            </a:r>
            <a:r>
              <a:rPr lang="en-US" altLang="en-US" sz="1800" dirty="0"/>
              <a:t> Established footprint in high-value markets like the </a:t>
            </a:r>
            <a:r>
              <a:rPr lang="en-US" altLang="en-US" sz="1800" b="1" dirty="0"/>
              <a:t>USA, UK, UAE, and Australia</a:t>
            </a:r>
            <a:r>
              <a:rPr lang="en-US" altLang="en-US" sz="1800" dirty="0"/>
              <a:t>, proving the brand's international transferability.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The Scale Opportunity:</a:t>
            </a:r>
            <a:r>
              <a:rPr lang="en-US" altLang="en-US" sz="1800" dirty="0"/>
              <a:t> The vast "white space" in the Americas and Europe highlights immense </a:t>
            </a:r>
            <a:r>
              <a:rPr lang="en-US" altLang="en-US" sz="1800" b="1" dirty="0"/>
              <a:t>untapped potential</a:t>
            </a:r>
            <a:r>
              <a:rPr lang="en-US" altLang="en-US" sz="1800" dirty="0"/>
              <a:t> for future international expansion.</a:t>
            </a:r>
          </a:p>
        </p:txBody>
      </p:sp>
    </p:spTree>
    <p:extLst>
      <p:ext uri="{BB962C8B-B14F-4D97-AF65-F5344CB8AC3E}">
        <p14:creationId xmlns:p14="http://schemas.microsoft.com/office/powerpoint/2010/main" val="278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2EC01-7CCE-3CD2-7D9C-1D25DC319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4" y="2060848"/>
            <a:ext cx="5136325" cy="3888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DCB8A9-6532-1726-9386-0B99FE3263F8}"/>
              </a:ext>
            </a:extLst>
          </p:cNvPr>
          <p:cNvSpPr txBox="1"/>
          <p:nvPr/>
        </p:nvSpPr>
        <p:spPr>
          <a:xfrm>
            <a:off x="5590356" y="1258888"/>
            <a:ext cx="6408712" cy="50783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800" b="1" dirty="0"/>
              <a:t>Key Insights:</a:t>
            </a:r>
            <a:endParaRPr lang="en-US" sz="1800" dirty="0"/>
          </a:p>
          <a:p>
            <a:r>
              <a:rPr lang="en-US" sz="1800" b="1" dirty="0"/>
              <a:t>The "Big Two" Dominance</a:t>
            </a:r>
            <a:endParaRPr lang="en-US" sz="1800" dirty="0"/>
          </a:p>
          <a:p>
            <a:pPr lvl="1"/>
            <a:r>
              <a:rPr lang="en-US" sz="1800" b="1" dirty="0"/>
              <a:t>North Indian</a:t>
            </a:r>
            <a:r>
              <a:rPr lang="en-US" sz="1800" dirty="0"/>
              <a:t> cuisine is the undisputed market leader with </a:t>
            </a:r>
            <a:r>
              <a:rPr lang="en-US" sz="1800" b="1" dirty="0"/>
              <a:t>~4,000 restaurants</a:t>
            </a:r>
            <a:r>
              <a:rPr lang="en-US" sz="1800" dirty="0"/>
              <a:t> (40% of total supply).</a:t>
            </a:r>
          </a:p>
          <a:p>
            <a:pPr lvl="1"/>
            <a:r>
              <a:rPr lang="en-US" sz="1800" b="1" dirty="0"/>
              <a:t>Chinese</a:t>
            </a:r>
            <a:r>
              <a:rPr lang="en-US" sz="1800" dirty="0"/>
              <a:t> follows as a strong second with </a:t>
            </a:r>
            <a:r>
              <a:rPr lang="en-US" sz="1800" b="1" dirty="0"/>
              <a:t>~2,700 restaurants</a:t>
            </a:r>
            <a:r>
              <a:rPr lang="en-US" sz="1800" dirty="0"/>
              <a:t>, cementing these two as the staple diets of the user base.</a:t>
            </a:r>
          </a:p>
          <a:p>
            <a:r>
              <a:rPr lang="en-US" sz="1800" b="1" dirty="0"/>
              <a:t>Fast Food &amp; Convenience</a:t>
            </a:r>
            <a:endParaRPr lang="en-US" sz="1800" dirty="0"/>
          </a:p>
          <a:p>
            <a:pPr lvl="1"/>
            <a:r>
              <a:rPr lang="en-US" sz="1800" b="1" dirty="0"/>
              <a:t>Fast Food</a:t>
            </a:r>
            <a:r>
              <a:rPr lang="en-US" sz="1800" dirty="0"/>
              <a:t> ranks third (</a:t>
            </a:r>
            <a:r>
              <a:rPr lang="en-US" sz="1800" b="1" dirty="0"/>
              <a:t>2.0K</a:t>
            </a:r>
            <a:r>
              <a:rPr lang="en-US" sz="1800" dirty="0"/>
              <a:t>), indicating a high demand for quick-service and affordable dining options.</a:t>
            </a:r>
          </a:p>
          <a:p>
            <a:r>
              <a:rPr lang="en-US" sz="1800" b="1" dirty="0"/>
              <a:t>Niche Market Opportunities</a:t>
            </a:r>
            <a:endParaRPr lang="en-US" sz="1800" dirty="0"/>
          </a:p>
          <a:p>
            <a:pPr lvl="1"/>
            <a:r>
              <a:rPr lang="en-US" sz="1800" dirty="0"/>
              <a:t>Categories like </a:t>
            </a:r>
            <a:r>
              <a:rPr lang="en-US" sz="1800" b="1" dirty="0"/>
              <a:t>Italian (0.8K)</a:t>
            </a:r>
            <a:r>
              <a:rPr lang="en-US" sz="1800" dirty="0"/>
              <a:t>, </a:t>
            </a:r>
            <a:r>
              <a:rPr lang="en-US" sz="1800" b="1" dirty="0"/>
              <a:t>Bakery (0.7K)</a:t>
            </a:r>
            <a:r>
              <a:rPr lang="en-US" sz="1800" dirty="0"/>
              <a:t>, and </a:t>
            </a:r>
            <a:r>
              <a:rPr lang="en-US" sz="1800" b="1" dirty="0"/>
              <a:t>Continental (0.7K)</a:t>
            </a:r>
            <a:r>
              <a:rPr lang="en-US" sz="1800" dirty="0"/>
              <a:t> have significantly lower saturation. This represents a potential "blue ocean" for new restaurants looking to avoid the fierce competition in North Indian cuisine.</a:t>
            </a:r>
          </a:p>
        </p:txBody>
      </p:sp>
    </p:spTree>
    <p:extLst>
      <p:ext uri="{BB962C8B-B14F-4D97-AF65-F5344CB8AC3E}">
        <p14:creationId xmlns:p14="http://schemas.microsoft.com/office/powerpoint/2010/main" val="281798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CD326-2230-B57B-9028-8FA059653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4" y="2132856"/>
            <a:ext cx="4104456" cy="3528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C29FC-E0E8-679B-702C-D407153E4B3E}"/>
              </a:ext>
            </a:extLst>
          </p:cNvPr>
          <p:cNvSpPr txBox="1"/>
          <p:nvPr/>
        </p:nvSpPr>
        <p:spPr>
          <a:xfrm>
            <a:off x="4582244" y="2158114"/>
            <a:ext cx="7488832" cy="34778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Linear Correlation:</a:t>
            </a:r>
            <a:r>
              <a:rPr lang="en-US" altLang="en-US" sz="2000" dirty="0"/>
              <a:t> </a:t>
            </a:r>
            <a:r>
              <a:rPr lang="en-US" altLang="en-US" sz="2000" b="1" dirty="0"/>
              <a:t>Higher Price = Higher Rating.</a:t>
            </a:r>
            <a:r>
              <a:rPr lang="en-US" altLang="en-US" sz="2000" dirty="0"/>
              <a:t> Customers consistently rate premium experiences significantly better than budget ones.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The Budget Trap (Range 1):</a:t>
            </a:r>
            <a:r>
              <a:rPr lang="en-US" altLang="en-US" sz="2000" dirty="0"/>
              <a:t> Lowest price bracket averages a poor </a:t>
            </a:r>
            <a:r>
              <a:rPr lang="en-US" altLang="en-US" sz="2000" b="1" dirty="0"/>
              <a:t>2.4 rating</a:t>
            </a:r>
            <a:r>
              <a:rPr lang="en-US" altLang="en-US" sz="2000" dirty="0"/>
              <a:t>, signaling severe quality control issues that drag down the platform average.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The Quality Leap (Range 1 → 2):</a:t>
            </a:r>
            <a:r>
              <a:rPr lang="en-US" altLang="en-US" sz="2000" dirty="0"/>
              <a:t> Best ROI on satisfaction: A moderate price increase yields the massive </a:t>
            </a:r>
            <a:r>
              <a:rPr lang="en-US" altLang="en-US" sz="2000" b="1" dirty="0"/>
              <a:t>+0.7 rating jump</a:t>
            </a:r>
            <a:r>
              <a:rPr lang="en-US" altLang="en-US" sz="2000" dirty="0"/>
              <a:t> (2.4 to 3.1).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Diminishing Returns:</a:t>
            </a:r>
            <a:r>
              <a:rPr lang="en-US" altLang="en-US" sz="2000" dirty="0"/>
              <a:t> Premium benefits plateau. The rating gap between Range 3 (</a:t>
            </a:r>
            <a:r>
              <a:rPr lang="en-US" altLang="en-US" sz="2000" b="1" dirty="0"/>
              <a:t>3.7</a:t>
            </a:r>
            <a:r>
              <a:rPr lang="en-US" altLang="en-US" sz="2000" dirty="0"/>
              <a:t>) and Range 4 (</a:t>
            </a:r>
            <a:r>
              <a:rPr lang="en-US" altLang="en-US" sz="2000" b="1" dirty="0"/>
              <a:t>3.8</a:t>
            </a:r>
            <a:r>
              <a:rPr lang="en-US" altLang="en-US" sz="2000" dirty="0"/>
              <a:t>) is negligible.</a:t>
            </a:r>
          </a:p>
        </p:txBody>
      </p:sp>
    </p:spTree>
    <p:extLst>
      <p:ext uri="{BB962C8B-B14F-4D97-AF65-F5344CB8AC3E}">
        <p14:creationId xmlns:p14="http://schemas.microsoft.com/office/powerpoint/2010/main" val="129995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6D12B5-34C2-32F7-F428-CA7092D82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6" y="2060848"/>
            <a:ext cx="3960440" cy="3024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0AC111-3717-9AAF-109F-BEE776EE013A}"/>
              </a:ext>
            </a:extLst>
          </p:cNvPr>
          <p:cNvSpPr txBox="1"/>
          <p:nvPr/>
        </p:nvSpPr>
        <p:spPr>
          <a:xfrm>
            <a:off x="4870276" y="2249868"/>
            <a:ext cx="6984776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Low Adoption (25%):</a:t>
            </a:r>
            <a:r>
              <a:rPr lang="en-US" altLang="en-US" sz="2000" dirty="0"/>
              <a:t> Despite the delivery boom, only </a:t>
            </a:r>
            <a:r>
              <a:rPr lang="en-US" altLang="en-US" sz="2000" b="1" dirty="0"/>
              <a:t>1 in 4</a:t>
            </a:r>
            <a:r>
              <a:rPr lang="en-US" altLang="en-US" sz="2000" dirty="0"/>
              <a:t> restaurants are currently capitalizing on it.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The Massive Gap (74%):</a:t>
            </a:r>
            <a:r>
              <a:rPr lang="en-US" altLang="en-US" sz="2000" dirty="0"/>
              <a:t> </a:t>
            </a:r>
            <a:r>
              <a:rPr lang="en-US" altLang="en-US" sz="2000" b="1" dirty="0"/>
              <a:t>74%</a:t>
            </a:r>
            <a:r>
              <a:rPr lang="en-US" altLang="en-US" sz="2000" dirty="0"/>
              <a:t> of the network operates as "Dine-In Only," effectively capping their revenue potential.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Strategic "Low-Hanging Fruit":</a:t>
            </a:r>
            <a:r>
              <a:rPr lang="en-US" altLang="en-US" sz="2000" dirty="0"/>
              <a:t> We don't need new restaurants to grow. Simply </a:t>
            </a:r>
            <a:r>
              <a:rPr lang="en-US" altLang="en-US" sz="2000" b="1" dirty="0"/>
              <a:t>enabling delivery</a:t>
            </a:r>
            <a:r>
              <a:rPr lang="en-US" altLang="en-US" sz="2000" dirty="0"/>
              <a:t> for existing partners is the fastest way to drastically increase transaction volume.</a:t>
            </a:r>
          </a:p>
        </p:txBody>
      </p:sp>
    </p:spTree>
    <p:extLst>
      <p:ext uri="{BB962C8B-B14F-4D97-AF65-F5344CB8AC3E}">
        <p14:creationId xmlns:p14="http://schemas.microsoft.com/office/powerpoint/2010/main" val="61654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28E044-241E-6CF4-597B-999F4DD31302}"/>
              </a:ext>
            </a:extLst>
          </p:cNvPr>
          <p:cNvSpPr txBox="1"/>
          <p:nvPr/>
        </p:nvSpPr>
        <p:spPr>
          <a:xfrm>
            <a:off x="333772" y="2949622"/>
            <a:ext cx="11521280" cy="30469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The Reality:</a:t>
            </a:r>
            <a:r>
              <a:rPr lang="en-US" altLang="en-US" dirty="0"/>
              <a:t> We have massive scale (</a:t>
            </a:r>
            <a:r>
              <a:rPr lang="en-US" altLang="en-US" b="1" dirty="0"/>
              <a:t>10K</a:t>
            </a:r>
            <a:r>
              <a:rPr lang="en-US" altLang="en-US" dirty="0"/>
              <a:t> Restaurants, </a:t>
            </a:r>
            <a:r>
              <a:rPr lang="en-US" altLang="en-US" b="1" dirty="0"/>
              <a:t>1M</a:t>
            </a:r>
            <a:r>
              <a:rPr lang="en-US" altLang="en-US" dirty="0"/>
              <a:t> Votes), but our </a:t>
            </a:r>
            <a:r>
              <a:rPr lang="en-US" altLang="en-US" b="1" dirty="0"/>
              <a:t>2.9</a:t>
            </a:r>
            <a:r>
              <a:rPr lang="en-US" altLang="en-US" dirty="0"/>
              <a:t> average rating is a red flag.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The Insight:</a:t>
            </a:r>
            <a:r>
              <a:rPr lang="en-US" altLang="en-US" dirty="0"/>
              <a:t> </a:t>
            </a:r>
            <a:r>
              <a:rPr lang="en-US" altLang="en-US" b="1" dirty="0"/>
              <a:t>Price drives Quality.</a:t>
            </a:r>
            <a:r>
              <a:rPr lang="en-US" altLang="en-US" dirty="0"/>
              <a:t> Premium restaurants consistently outperform budget outlets.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The Opportunity:</a:t>
            </a:r>
            <a:r>
              <a:rPr lang="en-US" altLang="en-US" dirty="0"/>
              <a:t> </a:t>
            </a:r>
            <a:r>
              <a:rPr lang="en-US" altLang="en-US" b="1" dirty="0"/>
              <a:t>74%</a:t>
            </a:r>
            <a:r>
              <a:rPr lang="en-US" altLang="en-US" dirty="0"/>
              <a:t> of our ecosystem is offline. Online Delivery is a massive, untapped revenue engine.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The Strategy:</a:t>
            </a:r>
            <a:r>
              <a:rPr lang="en-US" altLang="en-US" dirty="0"/>
              <a:t> Stop chasing new restaurants. Instead, </a:t>
            </a:r>
            <a:r>
              <a:rPr lang="en-US" altLang="en-US" b="1" dirty="0"/>
              <a:t>activate delivery</a:t>
            </a:r>
            <a:r>
              <a:rPr lang="en-US" altLang="en-US" dirty="0"/>
              <a:t> for the existing ones and </a:t>
            </a:r>
            <a:r>
              <a:rPr lang="en-US" altLang="en-US" b="1" dirty="0"/>
              <a:t>fix quality</a:t>
            </a:r>
            <a:r>
              <a:rPr lang="en-US" altLang="en-US" dirty="0"/>
              <a:t> in the budget sector.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12C60-9725-C2D0-E2D6-A6FC700DA09F}"/>
              </a:ext>
            </a:extLst>
          </p:cNvPr>
          <p:cNvSpPr txBox="1"/>
          <p:nvPr/>
        </p:nvSpPr>
        <p:spPr>
          <a:xfrm>
            <a:off x="1521904" y="1511206"/>
            <a:ext cx="9145016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latin typeface="+mj-lt"/>
              </a:rPr>
              <a:t>CONCLUSION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37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7163-F1B1-6F1F-8C41-3CFBB663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2819400"/>
            <a:ext cx="10360501" cy="12192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42659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Crimson landscape design slides</Template>
  <TotalTime>117</TotalTime>
  <Words>892</Words>
  <Application>Microsoft Office PowerPoint</Application>
  <PresentationFormat>Custom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Century Gothic</vt:lpstr>
      <vt:lpstr>Crimson landscape design template</vt:lpstr>
      <vt:lpstr>Zomato restaurant insights</vt:lpstr>
      <vt:lpstr>Introduction</vt:lpstr>
      <vt:lpstr>OBJECTIVE</vt:lpstr>
      <vt:lpstr>DASHBOARD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Saha</dc:creator>
  <cp:lastModifiedBy>Abhishek Saha</cp:lastModifiedBy>
  <cp:revision>1</cp:revision>
  <dcterms:created xsi:type="dcterms:W3CDTF">2026-02-08T14:23:21Z</dcterms:created>
  <dcterms:modified xsi:type="dcterms:W3CDTF">2026-02-08T16:20:25Z</dcterms:modified>
</cp:coreProperties>
</file>